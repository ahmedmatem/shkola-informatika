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CA03F2-82C9-40D0-8BAE-D73103F67F6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 час" id="{3AB88BEA-4E70-4156-B254-908DB5C29C72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3 час" id="{B8D6D2CA-2D9D-4D66-8EB2-915F14311228}">
          <p14:sldIdLst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4 час" id="{EED1026D-5E2B-427D-AFFD-01D865B64C8B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hmed" userId="9d421c32c632e8c8" providerId="LiveId" clId="{AFE7D353-4467-4D76-9334-F7D8899268A9}"/>
    <pc:docChg chg="undo custSel modSld addSection modSection">
      <pc:chgData name="Ahmed Ahmed" userId="9d421c32c632e8c8" providerId="LiveId" clId="{AFE7D353-4467-4D76-9334-F7D8899268A9}" dt="2026-10-16T16:54:27.334" v="26" actId="1076"/>
      <pc:docMkLst>
        <pc:docMk/>
      </pc:docMkLst>
      <pc:sldChg chg="modSp mod">
        <pc:chgData name="Ahmed Ahmed" userId="9d421c32c632e8c8" providerId="LiveId" clId="{AFE7D353-4467-4D76-9334-F7D8899268A9}" dt="2026-10-16T14:56:58" v="1" actId="20577"/>
        <pc:sldMkLst>
          <pc:docMk/>
          <pc:sldMk cId="452644118" sldId="256"/>
        </pc:sldMkLst>
        <pc:spChg chg="mod">
          <ac:chgData name="Ahmed Ahmed" userId="9d421c32c632e8c8" providerId="LiveId" clId="{AFE7D353-4467-4D76-9334-F7D8899268A9}" dt="2026-10-16T14:56:58" v="1" actId="20577"/>
          <ac:spMkLst>
            <pc:docMk/>
            <pc:sldMk cId="452644118" sldId="256"/>
            <ac:spMk id="2" creationId="{28BC5F48-DDCC-47CE-9B8F-065A2996BCB6}"/>
          </ac:spMkLst>
        </pc:spChg>
      </pc:sldChg>
      <pc:sldChg chg="modSp mod">
        <pc:chgData name="Ahmed Ahmed" userId="9d421c32c632e8c8" providerId="LiveId" clId="{AFE7D353-4467-4D76-9334-F7D8899268A9}" dt="2026-10-16T15:04:08.556" v="11" actId="20577"/>
        <pc:sldMkLst>
          <pc:docMk/>
          <pc:sldMk cId="2099245300" sldId="275"/>
        </pc:sldMkLst>
        <pc:spChg chg="mod">
          <ac:chgData name="Ahmed Ahmed" userId="9d421c32c632e8c8" providerId="LiveId" clId="{AFE7D353-4467-4D76-9334-F7D8899268A9}" dt="2026-10-16T15:04:08.556" v="11" actId="20577"/>
          <ac:spMkLst>
            <pc:docMk/>
            <pc:sldMk cId="2099245300" sldId="275"/>
            <ac:spMk id="3" creationId="{AD6DDC68-46EB-4536-9486-0AADA6AD754D}"/>
          </ac:spMkLst>
        </pc:spChg>
      </pc:sldChg>
      <pc:sldChg chg="addSp modSp mod">
        <pc:chgData name="Ahmed Ahmed" userId="9d421c32c632e8c8" providerId="LiveId" clId="{AFE7D353-4467-4D76-9334-F7D8899268A9}" dt="2026-10-16T16:50:21.209" v="20" actId="1076"/>
        <pc:sldMkLst>
          <pc:docMk/>
          <pc:sldMk cId="191158091" sldId="287"/>
        </pc:sldMkLst>
        <pc:picChg chg="add mod">
          <ac:chgData name="Ahmed Ahmed" userId="9d421c32c632e8c8" providerId="LiveId" clId="{AFE7D353-4467-4D76-9334-F7D8899268A9}" dt="2026-10-16T16:50:21.209" v="20" actId="1076"/>
          <ac:picMkLst>
            <pc:docMk/>
            <pc:sldMk cId="191158091" sldId="287"/>
            <ac:picMk id="6" creationId="{CA190D39-33C4-63ED-FC5F-C11AAEB73E83}"/>
          </ac:picMkLst>
        </pc:picChg>
      </pc:sldChg>
      <pc:sldChg chg="addSp modSp mod">
        <pc:chgData name="Ahmed Ahmed" userId="9d421c32c632e8c8" providerId="LiveId" clId="{AFE7D353-4467-4D76-9334-F7D8899268A9}" dt="2026-10-16T16:53:27.034" v="23" actId="1076"/>
        <pc:sldMkLst>
          <pc:docMk/>
          <pc:sldMk cId="443902581" sldId="289"/>
        </pc:sldMkLst>
        <pc:picChg chg="add mod">
          <ac:chgData name="Ahmed Ahmed" userId="9d421c32c632e8c8" providerId="LiveId" clId="{AFE7D353-4467-4D76-9334-F7D8899268A9}" dt="2026-10-16T16:53:27.034" v="23" actId="1076"/>
          <ac:picMkLst>
            <pc:docMk/>
            <pc:sldMk cId="443902581" sldId="289"/>
            <ac:picMk id="6" creationId="{77546910-FE98-FCDC-4E39-3DE4077BEF09}"/>
          </ac:picMkLst>
        </pc:picChg>
      </pc:sldChg>
      <pc:sldChg chg="addSp modSp mod">
        <pc:chgData name="Ahmed Ahmed" userId="9d421c32c632e8c8" providerId="LiveId" clId="{AFE7D353-4467-4D76-9334-F7D8899268A9}" dt="2026-10-16T16:54:27.334" v="26" actId="1076"/>
        <pc:sldMkLst>
          <pc:docMk/>
          <pc:sldMk cId="498896889" sldId="291"/>
        </pc:sldMkLst>
        <pc:picChg chg="add mod">
          <ac:chgData name="Ahmed Ahmed" userId="9d421c32c632e8c8" providerId="LiveId" clId="{AFE7D353-4467-4D76-9334-F7D8899268A9}" dt="2026-10-16T16:54:27.334" v="26" actId="1076"/>
          <ac:picMkLst>
            <pc:docMk/>
            <pc:sldMk cId="498896889" sldId="291"/>
            <ac:picMk id="6" creationId="{5A4D252E-ADCE-4CF0-3E04-BCABAB0A09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Източник, проверен 16.10.2026: https://www.codeblocks.org/downloads/binaries/ . Предварително изтеглете инсталатора. При забавяне използвайте готовите работни места.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Надписите може леко да се различават според версията. Учителят демонстрира на живо, учениците следват.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Покажете реалния прозорец на Code::Blocks. Учениците посочват всяка област, преди да продължат.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Клавишните комбинации могат да бъдат променени. Използвайте меню Build при разлика.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Отговор: първи ред AB, втори ред C D. Без нов ред след A следващият изход продължава на същия ред.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Решение: cout &lt;&lt; "  *\n ***\n*****\n  *\n"; Показаното в основното поле е желаният изход, не C++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Cout трябва да е cout, липсва ; след извеждането и липсва затваряща }. Компилаторът може да покаже няколко съобщения за една причина.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Отговори: 14, 20, 6, 2. Обяснете делението чрез 20 = 6*3 + 2.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Допълнителна задача. Не е задължителна за завършване на първото занятие.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Това е тяло за поставяне в main. 100 дава 1, 909 дава 18, 999 дава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Ако няма подготвени профили, демонстрирайте с учителски профил или съберете main.cpp локално. Не обещавайте реално онлайн оценяване без настроена задача.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Д1–Д3 са основни, Д4–Д5 са разширение. Пълните условия, примери и отговори са в плана. Записвайте всяко решение в отделен проект.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Предложение след пропуснатия старт на 10.10, а не изменение на утвърдения график. Източници: предоставената програма за 80 часа; https://www.mon.bg/dyasno-menyu/vakantsii/ ; https://infos.infosbg.com/calendar/2026-2027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Учителят задава въпроси и проследява работата на всяко дете. Преминаване напред след кратка практическа проверка.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Източници, проверени 16.10.2026: https://www.codeblocks.org/downloads/binaries/ ; https://infos.infosbg.com/calendar/2026-2027 ; https://infos.infosbg.com/documents/2025-2026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D579DA-CC84-4C3D-8FA9-7F219CA3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201DAF9-425B-4A52-A836-157104E40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045E3BB-D2F1-474F-AC88-F8F92844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45DCC70-1AB0-4B8A-B191-64054DF7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3D2D4AB-9885-4978-ADCA-FFEC0EDC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B84DCA7-FD2F-440F-B731-A89E03E7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7FE501D-62E2-4770-B0E6-B692A6D89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EA5573F-01A1-4782-87E7-617535D2C9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DBD0A56-2B5F-4396-862F-63BC493F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C54C6B4-11EF-4FA2-9CD0-DE5EAFB23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F18C8D6-1F04-4BB1-B301-ACCBB4D2107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Първи стъпки в C++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BC5F48-DDCC-47CE-9B8F-065A2996BCB6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0">
                <a:solidFill>
                  <a:srgbClr val="D7E9EF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550" b="0">
                <a:solidFill>
                  <a:srgbClr val="D7E9EF"/>
                </a:solidFill>
                <a:latin typeface="Aptos"/>
                <a:ea typeface="Aptos"/>
                <a:cs typeface="Aptos"/>
              </a:defRPr>
            </a:pP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Школа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по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 </a:t>
            </a: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информатика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 </a:t>
            </a:r>
            <a:endParaRPr lang="bg-BG" sz="2550" b="0" dirty="0">
              <a:solidFill>
                <a:srgbClr val="D7E9EF"/>
              </a:solidFill>
              <a:latin typeface="Aptos"/>
              <a:ea typeface="Aptos"/>
              <a:cs typeface="Aptos"/>
            </a:endParaRPr>
          </a:p>
          <a:p>
            <a:pPr>
              <a:defRPr sz="2550" b="0">
                <a:solidFill>
                  <a:srgbClr val="D7E9EF"/>
                </a:solidFill>
                <a:latin typeface="Aptos"/>
                <a:ea typeface="Aptos"/>
                <a:cs typeface="Aptos"/>
              </a:defRPr>
            </a:pP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17 </a:t>
            </a: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октомври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 2026 г.</a:t>
            </a:r>
          </a:p>
          <a:p>
            <a:pPr>
              <a:defRPr sz="2550" b="0">
                <a:solidFill>
                  <a:srgbClr val="D7E9EF"/>
                </a:solidFill>
                <a:latin typeface="Aptos"/>
                <a:ea typeface="Aptos"/>
                <a:cs typeface="Aptos"/>
              </a:defRPr>
            </a:pP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НП „</a:t>
            </a: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Бъдеще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 за </a:t>
            </a:r>
            <a:r>
              <a:rPr sz="2550" b="0" dirty="0" err="1">
                <a:solidFill>
                  <a:srgbClr val="D7E9EF"/>
                </a:solidFill>
                <a:latin typeface="Aptos"/>
                <a:ea typeface="Aptos"/>
                <a:cs typeface="Aptos"/>
              </a:rPr>
              <a:t>таланти</a:t>
            </a:r>
            <a:r>
              <a:rPr sz="2550" b="0" dirty="0">
                <a:solidFill>
                  <a:srgbClr val="D7E9EF"/>
                </a:solidFill>
                <a:latin typeface="Aptos"/>
                <a:ea typeface="Aptos"/>
                <a:cs typeface="Aptos"/>
              </a:rPr>
              <a:t>“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10E4BE1-922D-4211-821E-02E0F59ABDB4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A8C7D1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A8C7D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C7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5264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EC9CCF9-673D-480C-99E5-D52774DDC6B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Днешната цел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D0C33EC-3011-4252-B26F-876F3A90712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Създавам проект в Code::Blocks.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Пиша и стартирам своя C++ програма.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Въвеждам числа и пресмятам резултат.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Проверявам решението с няколко теста.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DAFE046-EBCD-49F7-B6D6-648E5A44611D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698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4058112-EE21-487B-8D87-1D7100B6409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Нашите четири часа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F81ADDE-2F17-42E6-9F89-1B15C4A1C3E4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1. Алгоритми, инсталиране и среда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2. Първа програма и извеждане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3. Променливи, вход и пресмятания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4. Самостоятелни задачи и проверка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Между часовете има почивки.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FB4BFAE-FD2B-461E-A6FB-5C1A075EF7E8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917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07CF9BF-3AF4-4275-B182-35E0DFDE7D1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Какво прави състезателят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B293DA1-B542-428E-AD0F-2BDB4B03723A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Прочита условието и ограниченията.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Измисля точни стъпки за решение.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Записва ги като програма.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Проверява и изпраща изходния код.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Проверката използва и непоказани тестове.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0715264-9945-4773-8BD7-8672CBB46D77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053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34840C-9255-4F74-A13E-9E84C60A204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Алгоритъм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1ED834D-8A98-4681-A672-A0EB9D8825A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Алгоритъмът е точна последователност от стъпки за решаване на задача.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Пример: имаме две числа.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Прочитаме ги, събираме ги, записваме сбора.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Стъпките трябва да работят за всички допустими данни.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33A94CB-518C-4771-AB38-D2AF27779440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744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56C8ED-8FF8-42CD-AFCC-8C518EBB184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Задача без компютър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86D046A-6B5B-433F-88A4-BC3B9133EA67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Роботът знае само: крачка напред, завой наляво, завой надясно.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Опиши как да премине по две страни на квадрат със страна 3 крачки.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Съученикът изпълнява точно инструкциите.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Коя неточна команда може да го обърка?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2A6FA23-7E69-4F47-954B-F9E322D18BEF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153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7D728A7-53C9-44F1-AE3C-147E1BF824D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Език, среда и компилатор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4C68A51-8CE2-4607-B326-AD0E4A21207D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C++ е езикът, на който записваме програмата.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Code::Blocks е средата, в която работим.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Компилаторът превежда кода до изпълнима програма.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Конзолата показва изхода и приема входа.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37D3F15-2E9D-4598-8F94-CDB6B08AEE2E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908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42279CC-136C-4885-A8C5-C8A3B5127F4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Инсталация за Windows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17DA218-86C2-4EAF-B57A-2750BC311AEA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Официален адрес: codeblocks.org/downloads/binaries/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раздел Windows избираме: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codeblocks-25.03mingw-setup.exe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Пакетът mingw включва и C++ компилатор.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училище инсталираме с помощта на учителя.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B8A366B-52F3-4F8B-8004-0EC34C2A8DEE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90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DA0C013-DEA8-43DD-9076-AE685630AC6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Стъпки на инсталирането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2B69BDA-62F7-450A-9DB2-CEC864C465BD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1. Стартираме изтегления инсталатор.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2. Next, преглед на лиценза, I Agree.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3. Запазваме компонентите с MinGW.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4. Избираме папка и Install.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5. Стартираме Code::Blocks след Finish.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8BBFE5A-AFDB-49A2-81EB-06A01E908D36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3896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E71766D-AC79-40B5-8760-2771218B81D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Първо стартиране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211447F-26C9-451A-818A-182F1DA17288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 откриване на компилатор избираме GNU GCC Compiler.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Задаваме го като подразбиращ се, ако има такъв избор.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Ако не е намерен: Settings &gt; Compiler &gt; Toolchain executables &gt; Auto-detect.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Учителят проверява дали е инсталиран MinGW.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3844E16-A76F-40CC-837E-25FD4DFE594F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7537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42BDBB3-7F4B-4819-8541-C0AAF3AC1F6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Ориентиране в средата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3D5C7D1-7FDC-4DF4-A2A2-A695D487CCE9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Меню File: създаване, отваряне, записване.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Projects: файловете на проекта.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Редактор: тук пишем main.cpp.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Build messages / Build log: съобщения от компилатора.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Конзола: вход и изход при изпълнение.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FE61616-9916-4621-A63E-557C63CECAAA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4535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FDC220E-ADB7-43C5-8B66-4D310D8BEED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Нов проект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2A4D26-AE20-452B-A112-74799D28EEE0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File &gt; New &gt; Project &gt; Console application.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Избираме C++, после Next.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Име: FirstProgram. Папка: C:\CPP\FirstProgram.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Оставяме GNU GCC Compiler и Finish.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Projects отваряме Sources &gt; main.cpp.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7D4D7CA-AEA8-46A5-BBFD-9C7751D51D36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7844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905FCA8-A67D-4CBD-9E02-E23E7C12710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Записване и изпълнение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84C7A9A-01A5-4BF0-92C3-3FC65383D485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Ctrl+S записва текущия файл.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Build компилира проекта.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Run стартира създадената програма.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Build and run прави и двете (обичайно F9).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 промяна отново компилираме.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6319E27-A69F-4295-9689-E03A077A1AC9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6704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A751B09-B42E-460F-A7D3-ACDB9677FF5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Проверка след първия час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538F812-C11D-4B37-B9EB-9876A569912F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Всеки има свой проект и main.cpp.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Всеки намира редактора и Build messages.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Всеки записва файла.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Ако техниката ни забави, работим по двойки.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Следва почивка.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1AE0F8C-A4E5-482F-A3A7-3FE9CAC68551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290737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B7910C8-18C0-4BB7-B20A-AD960977F6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Нашата първа програма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6B244EB-92CF-40EC-AF34-CDA93FEF4E28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Въведи кода точно. Стартирай го.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конзолата трябва да се появи Hello!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82925CBE-AD16-48AB-8247-D53C5B3B4E6E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>
            <a:endParaRPr sz="2175" b="0">
              <a:solidFill>
                <a:srgbClr val="125D63"/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cout &lt;&lt; "Hello!"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D61CCA5-E0A0-4AC2-A3D7-F012ADA0EBC5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75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C1A7982-899C-4216-83AD-06F1423842F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Какво означават редовете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A0F8C2D-8E58-4764-9949-9462F53526BF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iostream осигурява стандартния вход и изход.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using namespace std позволява краткото име cout.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main е началната функция.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Скобите { } ограждат нейното тяло.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return 0 означава успешно приключване.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Много инструкции завършват с ;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6A5116E-CE1E-4093-AE56-BFEB89F842E0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6501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DCA5089-8DDF-4C62-9402-7076D0F6332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Текст и нов ред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6BB3A1F-5498-412A-893F-472F9C049605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Текстът стои между двойни кавички.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\n означава преминаване на нов ред.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Интервалите вътре в текста също се извеждат.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3780CB70-0466-43FB-97F1-3F008BEFC832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"I learn C++"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"Group E"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"17 " &lt;&lt; "October" &lt;&lt; '\n';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F7EBF915-0DAE-44EB-82FB-22B22F053943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6325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F1A2B098-74C4-4561-98F6-8D3D8DEEF99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Предвиди изхода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2FF7470-2ADA-470F-8D3A-131425CF4FF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Запиши на хартия какво ще се появи.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После провери чрез изпълнение.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B5AEB3FE-F533-4F2F-992F-F18DE38A7FD5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"A";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"B"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"C D" &lt;&lt; '\n';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F7293CF1-4352-49FC-AF61-9BFD461632F8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15946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A295A5E-AB3E-4386-87EB-B4F3C51CD23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Практика: визитка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14E1B8E-D2C7-4539-8219-61481341DEF5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Изведи на три реда: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своето име с латински букви,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School of Informatics,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Group E.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Запази проекта като Card.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Допълнение: добави рамка от звездички.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7B65D84-DEB6-4BB3-93D6-B0C56E296DA5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27754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79DC6BB-3CAE-4AAE-B3F5-E0F797A5189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Практика: фигура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D9DDF8-DC1D-4A49-81EB-12B05FEA3FE3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Изведи точно следната фигура.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Използвай само cout. Интервалите имат значение.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AD6DDC68-46EB-4536-9486-0AADA6AD754D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lang="bg-BG"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*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lang="en-GB"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*</a:t>
            </a: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**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*****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 dirty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*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1EC9E76-EF2E-467F-803A-CFA388BC7585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99245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8D81D0D-D16F-4EDD-B5A5-BA9AB519F42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Първите грешки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BED80F-1924-4228-AFF4-CBBC016BDE49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Липсва ; в края на инструкция.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Липсва затваряща кавичка или скоба.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Написали сме Cout вместо cout.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кода сме използвали кирилска буква, приличаща на латинска.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Четем първата грешка в Build messages.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55EED67-D7BB-4552-A046-62574EE72D73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7269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83B21ED4-389E-4693-8410-F48D13BF21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Лаборатория за грешки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2A34E73-CDB2-42E2-A98C-0ADDC0111E3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Намери и поправи трите проблема.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Компилирай след всяка поправка.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FD42E47E-BD7A-4281-AADD-53BEBB58C82D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Cout &lt;&lt; "Hello"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endParaRPr sz="2175" b="0">
              <a:solidFill>
                <a:srgbClr val="125D63"/>
              </a:solidFill>
              <a:latin typeface="DejaVu Sans Mono"/>
              <a:ea typeface="DejaVu Sans Mono"/>
              <a:cs typeface="DejaVu Sans Mono"/>
            </a:endParaRP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18AF3870-879E-4188-B09B-C6882B7ADA6B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00167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38AE664-4C11-4269-874E-200D5EFC45A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Проверка след втория час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92FB25E-8BC8-4B1F-94B1-10962653BDB6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Пиша малка програма от начало.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Показвам текст на няколко реда.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Разпознавам съобщение за компилационна грешка.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Различавам програмния код от изхода.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Следва почивка.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E68AF7B-ACF6-4EA5-B14B-E5F5D1FA83AB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5824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63D0236-E52C-4B34-88F7-8D9B9C9B4E6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Променлива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7CB5FFB-A48B-403A-8CE8-1B6B4CDEFCC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Променливата пази стойност, която можем да използваме.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int пази цели числа в допустимия за типа диапазон.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Името започва с буква или долна черта.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Използваме ясни имена на латиница.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F24BCEEC-6EF2-41F7-8ECE-026B8F6BDC8C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apples = 5;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pears = 3;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apples + pears &lt;&lt; '\n';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CCBA9EC3-E785-48F4-BB8F-BEC0D091A2E4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5957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14B2DEB-F3B6-43AB-8896-A7EE53E6F0C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Имена и присвояване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4B755C8-9744-407E-8492-34B85B22C87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Подходящи имена: age, total, sideA.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Неподходящи: 2age, my age, int.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Главните и малките букви се различават.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Символът = записва нова стойност.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DBA6B7E2-3A74-4EB6-8DF8-11CD09B8D557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score = 4;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score = score + 3;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score; // 7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F1FA71B-C7AF-4FAB-9FE0-A4FA7F891B00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47790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8955B471-3372-44E6-8C7A-DC8A3DF3C1E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Вход с cin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E71A541-01EC-42CD-BFDF-706CF51CDB47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cin чете данните от конзолата.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 въвеждане натискаме Enter.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Числата могат да са разделени с интервали или нови редове.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B9D578C2-2F70-42DA-B8A6-19F5F2E24380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a,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cin &gt;&gt; a &gt;&gt;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a + b &lt;&lt; '\n';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41E7EA18-7FE5-40F5-95F3-B3BF02676AFF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6469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E337E24B-2826-4336-8598-2B21A0A481C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Пълно решение: сбор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C167058-EE08-4FA6-B97A-4348100796AD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Вход: две цели числа от 0 до 1000.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Изход: техният сбор.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Пример: вход 7 12, изход 19.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88D9C6C0-F722-4A35-AB54-48680EF53048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int a,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cin &gt;&gt; a &gt;&gt;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cout &lt;&lt; a + b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1146B2F7-FF43-4A54-B55F-AEC1108E1C95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9643991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A25367-DDA6-4149-B142-5DF424190AE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Точен състезателен изход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E8D54D0-3D23-4149-85EA-D79115BCF35C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 вход 7 12 се очаква само 19.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Не добавяме „Въведи число“ или „Сборът е“.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Следваме броя на редовете и реда на резултатите.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Съобщенията на Code::Blocks за време и код на изход не са част от cout.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127DA6D-3A51-4533-8609-C4DD9E583838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3907454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EFAA253-763F-478E-9B3E-FE82B8BA7F6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Аритметични операции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EE7A488-5B8E-4DAD-BDAC-3A717868C340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+ събира, - изважда, * умножава.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 цели положителни числа / дава цялата част на частното.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% дава остатъка при целочислено деление.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Делителят трябва да е различен от нула.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A9C10C8A-2A49-44B6-8E2E-4DBD2EB19CEA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17 / 5 &lt;&lt; '\n'; // 3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17 % 5 &lt;&lt; '\n'; // 2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2 + 3 * 4;      // 14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54B6D2F5-7A3D-45FD-8F66-397DBE997F26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885942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849ADFD-F34A-4691-87DB-94C51CA61D4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Скоби и ред на действията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0912C4-DE40-4942-9D62-868D44B43F0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Умножението и делението са преди събирането.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Скобите променят реда.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Какво извежда всеки израз?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480EF991-5FE0-4815-85E8-B83845A900DC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2 + 3 * 4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(2 + 3) * 4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20 / 3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20 % 3 &lt;&lt; '\n';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3A954400-031F-454C-9392-7F8EB2930B7E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090375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EBBE643-6503-4567-898E-B9BA575443E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Проверка след третия час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D645CA0-67AF-430E-9375-0801CAFEDFA6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Въвеждам две числа и извеждам резултат.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Обяснявам разликата между / и %.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Проверявам със собствени входни данни.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Задачите с деление остават за допълнение, ако входът още затруднява групата.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Следва почивка.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2718CA7-0572-41BA-8F01-82F4D261F4F1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16949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C2F60C1-9ABC-4591-827C-241F0C2A846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Задача 1: правоъгълна градина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7399100-7898-41AD-95D0-2D73A3CEF986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Вход: цели страни a и b в метри, 1 ≤ a,b ≤ 1000.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Изход: периметърът и лицето, разделени с интервал.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Пример: вход 4 7, изход 22 28.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Първо запиши формулите, после програмата.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Време: 8 минути.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DDB1FB3-E6B6-4B48-8678-F3A1DC168D34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90D39-33C4-63ED-FC5F-C11AAEB73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050" y="3570516"/>
            <a:ext cx="5778350" cy="29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8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B35D808-3DBD-424C-9A93-BDFCB8EAEE5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Решение: градина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EBB7EA7-44E1-4321-A729-B9366C2A5F19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Периметърът е 2*(a+b). Лицето е a*b.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Провери и квадрат със страна 1.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1EC8DE36-5F5C-402F-A070-F11562B3CE17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int a,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cin &gt;&gt; a &gt;&gt; b;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cout &lt;&lt; 2 * (a + b) &lt;&lt; " "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     &lt;&lt; a * b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957155A9-E2ED-469F-BC5E-5551B1D38ACB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737026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153D0E4-EF35-43E1-9E1F-1CE5A924FA1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Задача 2: минути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8B255F-A8E0-4786-BB4E-4D986695CD17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Вход: цяло число m, 0 ≤ m ≤ 10000, общ брой минути.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Изход: цели часове и оставащи минути.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Пример: вход 135, изход 2 15.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Провери 0, 59, 60 и 61.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Време: 8 минути.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8F794C5-47B2-4DA5-BD73-0A037F8B241E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546910-FE98-FCDC-4E39-3DE4077BE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314" y="3034307"/>
            <a:ext cx="5952086" cy="303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025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77C0130-02AE-4C26-B220-F09473D810C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Решение: минути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DDCEE7C-5AAA-49FA-9CA2-5191507F8E3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 един час има 60 минути.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Целите часове са m/60, остатъкът е m%60.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36200C5B-3663-4F57-B8B5-F2B6E43F70DA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#include &lt;iostream&gt;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using namespace std;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main() {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int m;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cin &gt;&gt; m;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cout &lt;&lt; m / 60 &lt;&lt; " "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     &lt;&lt; m % 60 &lt;&lt; '\n';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    return 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AF5BD69E-8485-48EB-98BB-0A5F6EA2FBB7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664126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A766EE7-082D-43D1-86F4-13EBBDEB9BA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Задача 3: цифри, за напредващи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272B77B-D163-4F40-83D2-45160D6E5288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Вход: трицифрено естествено число n.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Изход: сборът на цифрите му.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Пример: вход 407, изход 11.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Подсказка: n/100, (n/10)%10, n%10.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Провери 100, 909 и 999.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0B4210B-F662-41C0-8D18-8DB1A9C7B887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D252E-ADCE-4CF0-3E04-BCABAB0A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213" y="3463343"/>
            <a:ext cx="5988662" cy="30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968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B69D65C0-FFB8-4615-B285-E7789D98BAE6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Решение: цифри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CA294E-F165-47A7-9E0E-9690916B725B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5720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За 407 получаваме 4, 0 и 7.</a:t>
            </a:r>
          </a:p>
          <a:p>
            <a:pPr>
              <a:defRPr sz="2175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Събираме ги.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id="{18369F28-E38D-4BC0-A7FD-50483D2D1FBD}"/>
              </a:ext>
            </a:extLst>
          </p:cNvPr>
          <p:cNvSpPr>
            <a:spLocks noGrp="1"/>
          </p:cNvSpPr>
          <p:nvPr/>
        </p:nvSpPr>
        <p:spPr>
          <a:xfrm>
            <a:off x="5562600" y="1657350"/>
            <a:ext cx="601980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n;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cin &gt;&gt; n;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hundreds = n / 100;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tens = (n / 10) % 10;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int ones = n % 10;</a:t>
            </a:r>
          </a:p>
          <a:p>
            <a:pPr>
              <a:def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125D63"/>
                </a:solidFill>
                <a:latin typeface="DejaVu Sans Mono"/>
                <a:ea typeface="DejaVu Sans Mono"/>
                <a:cs typeface="DejaVu Sans Mono"/>
              </a:rPr>
              <a:t>cout &lt;&lt; hundreds + tens + ones;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398B9ACB-6701-455D-84FF-A3097122BF62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130379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EDEC942-7A52-416E-A1CA-D167800F195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Тестове, които откриват грешки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EEE111-032D-4D11-BEB5-A0D5D2CC9903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Примерът показва само един случай.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Проверяваме най-малките разрешени стойности.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Проверяваме граница: 59, 60, 61 минути.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При цифри проверяваме нула в средата: 407.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Изчисляваме очаквания резултат предварително.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8869845-7F81-4ACD-A832-B9983466285E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85046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A9F201-DC47-4FDC-B0D0-69FD204174AE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Изпращане на решение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07969A0-76F6-46E9-825E-1324A960D031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Учителят показва избраната проверяваща система.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Отваряме правилната задача и език C++.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Изпращаме изходния код от main.cpp според указанията.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Четем резултата и поправяме решението.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Конкретните бутони зависят от системата.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C51A9C7-AE04-4448-BA0F-976BF0DEEADF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844738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6B1FA87-ACEE-4DB3-B179-19FFD46C9E1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Какво означава резултатът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413B658-F78B-4176-9D62-BD3767FAD2CF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Accepted: решението преминава тестовете на системата.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Wrong Answer: има грешен резултат или формат.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Compilation Error: кодът не се компилира.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Time Limit: изпълнението е прекалено бавно.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Един успешен пример още не доказва вярно решение.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88EEF0C-ED76-43CC-9C50-EA023CD47B2B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794179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292FBF8-8C9E-4392-B31B-14A1504D24B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Изходен билет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CE7B06BD-2908-4489-B6A2-D44BFF4FD362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1. Създай програма за сбор на три цели числа.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2. Провери с 0 0 0 и 2 5 9.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3. Предай main.cpp и запиши резултатите.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4. Обясни защо 7/2 е 3 при целочислено деление.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Допълнение: покажи и остатъка.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A3CC48A-82F9-4F66-91D0-30F6F45EB832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825037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147D6A-EF5E-415E-9ABE-50D88E1E0987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Домашни задачи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DD51A7B-E9C9-4756-9229-E1AADBDCC1E5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Д1. Визитка на три реда и фигура по избор.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Д2. Две цели числа от 0 до 1000: сбор и произведение.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Д3. Куб със страна 1..100: обем.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Д4. Секунди 0..100000: минути и оставащи секунди.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Д5. Трицифрено число: цифрите в обратен ред, като отделни числа.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28FE02B-AC42-4FF5-8329-C9DE83112E80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98619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9B17036-01CA-47E0-BF9F-1EA612E884F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Самоподготовка през седмицата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4CBC879-51C1-4B75-9643-E84967667772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Ден 1: повтори първата програма без преписване.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Ден 2: реши Д1 и Д2.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Ден 3: реши Д3 и провери границите.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Ден 4: опитай Д4 и Д5.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Пази дневник: грешка, причина, поправка.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Донеси един въпрос за следващото занятие.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979BD2E-8D40-4427-989A-791723F68290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654643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9AD3301-560A-422F-AF7A-AE3271C1498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Следващите срещи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D949EA6-1A89-429F-83EF-420CAB754EB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24 октомври: числови изрази, цифри и първи условия.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31 октомври: есенна ваканция, без занятие.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7 и 14 ноември: условия, знаци и комбинирани задачи.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21 ноември: пробна тема и анализ.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Есенният турнир е първа възможност за опит според готовността.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283267F-232E-4E1C-8C5E-5F2C2BC7BC88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712294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1DCB2F9-3603-4D6D-9594-C0EC8F65F4F8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Справочник за следващото занятие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821DF68-14BB-421A-9DB0-CD68955667E5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int е удобен за малки цели стойности.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long long използваме за по-големи цели резултати.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double пази приблизителни реални стойности.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7/2 е 3, а 7.0/2 е 3.5.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Типовете и изборът според ограниченията ще упражняваме подробно.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08601B-1157-4F2D-8760-FABDDF947CEC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879372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7674487-741B-491A-B9F4-66816802181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9728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300" b="1">
                <a:solidFill>
                  <a:srgbClr val="10293D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93D"/>
                </a:solidFill>
                <a:latin typeface="Aptos"/>
                <a:ea typeface="Aptos"/>
                <a:cs typeface="Aptos"/>
              </a:rPr>
              <a:t>Полезни адреси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80E1EE0-B54F-4CF6-B0BB-0109637CB092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1071562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Code::Blocks: codeblocks.org/downloads/binaries/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Календар и архив: infos.infosbg.com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Учебна програма за група E: раздел „Документи“, 2025/2026.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Използваме я за методическа основа.</a:t>
            </a:r>
          </a:p>
          <a:p>
            <a:pPr>
              <a:defRPr sz="2400" b="0">
                <a:solidFill>
                  <a:srgbClr val="243F50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43F50"/>
                </a:solidFill>
                <a:latin typeface="Aptos"/>
                <a:ea typeface="Aptos"/>
                <a:cs typeface="Aptos"/>
              </a:rPr>
              <a:t>Условията за участие се проверяват по актуалния регламент.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78E947E-3361-4655-9F1A-C1E018A5377D}"/>
              </a:ext>
            </a:extLst>
          </p:cNvPr>
          <p:cNvSpPr>
            <a:spLocks noGrp="1"/>
          </p:cNvSpPr>
          <p:nvPr/>
        </p:nvSpPr>
        <p:spPr>
          <a:xfrm>
            <a:off x="10953750" y="6276975"/>
            <a:ext cx="619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6174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47C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712914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Microsoft Office PowerPoint</Application>
  <DocSecurity>0</DocSecurity>
  <PresentationFormat>Widescreen</PresentationFormat>
  <Paragraphs>401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Aptos</vt:lpstr>
      <vt:lpstr>DejaVu Sans Mono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1</cp:revision>
  <dcterms:created xsi:type="dcterms:W3CDTF">2026-10-16T14:45:46Z</dcterms:created>
  <dcterms:modified xsi:type="dcterms:W3CDTF">2026-10-16T16:54:30Z</dcterms:modified>
</cp:coreProperties>
</file>